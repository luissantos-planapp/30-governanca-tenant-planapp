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Não conformes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3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DNS link priv.</c:v>
                  </c:pt>
                  <c:pt idx="1">
                    <c:v>DNS privado</c:v>
                  </c:pt>
                  <c:pt idx="2">
                    <c:v>Storage acct</c:v>
                  </c:pt>
                  <c:pt idx="3">
                    <c:v>VNets</c:v>
                  </c:pt>
                  <c:pt idx="4">
                    <c:v>Certificados</c:v>
                  </c:pt>
                  <c:pt idx="5">
                    <c:v>Log workspaces</c:v>
                  </c:pt>
                  <c:pt idx="6">
                    <c:v>Web apps</c:v>
                  </c:pt>
                  <c:pt idx="7">
                    <c:v>NICs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</c:v>
                </c:pt>
                <c:pt idx="1">
                  <c:v>30</c:v>
                </c:pt>
                <c:pt idx="2">
                  <c:v>27</c:v>
                </c:pt>
                <c:pt idx="3">
                  <c:v>21</c:v>
                </c:pt>
                <c:pt idx="4">
                  <c:v>20</c:v>
                </c:pt>
                <c:pt idx="5">
                  <c:v>16</c:v>
                </c:pt>
                <c:pt idx="6">
                  <c:v>16</c:v>
                </c:pt>
                <c:pt idx="7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423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Owners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2E7D32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Sem owner direto</c:v>
                </c:pt>
                <c:pt idx="1">
                  <c:v>Com owner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7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Deployments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bubble3D val="0"/>
            <c:spPr>
              <a:solidFill>
                <a:srgbClr val="5B8BB8"/>
              </a:solidFill>
              <a:effectLst/>
            </c:spPr>
          </c:dPt>
          <c:dPt>
            <c:idx val="2"/>
            <c:bubble3D val="0"/>
            <c:spPr>
              <a:solidFill>
                <a:srgbClr val="B26A00"/>
              </a:solidFill>
              <a:effectLst/>
            </c:spPr>
          </c:dPt>
          <c:dPt>
            <c:idx val="3"/>
            <c:bubble3D val="0"/>
            <c:spPr>
              <a:solidFill>
                <a:srgbClr val="2E7D32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OpenAI</c:v>
                </c:pt>
                <c:pt idx="1">
                  <c:v>Anthropic</c:v>
                </c:pt>
                <c:pt idx="2">
                  <c:v>DeepSeek</c:v>
                </c:pt>
                <c:pt idx="3">
                  <c:v>Mistral AI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55</c:v>
                </c:pt>
                <c:pt idx="1">
                  <c:v>9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Ações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3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Tags ausentes</c:v>
                  </c:pt>
                  <c:pt idx="1">
                    <c:v>Naming não conforme</c:v>
                  </c:pt>
                  <c:pt idx="2">
                    <c:v>Rede pública ativa</c:v>
                  </c:pt>
                  <c:pt idx="3">
                    <c:v>Conflito amb./sub.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16</c:v>
                </c:pt>
                <c:pt idx="2">
                  <c:v>14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3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9FC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PLANAPP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Auditoria de Conformidade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68680" y="31546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Azure — Nomenclatura, Etiquetas, Propriedade e Recursos de IA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3703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base para a Política de Nomenclaturas v2.0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4937760"/>
            <a:ext cx="3840480" cy="0"/>
          </a:xfrm>
          <a:prstGeom prst="line">
            <a:avLst/>
          </a:prstGeom>
          <a:noFill/>
          <a:ln w="19050">
            <a:solidFill>
              <a:srgbClr val="2E5C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074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de 5 de junho de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54406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 de Gestão dos Sistemas de Informação, Transformação Digital e IA  ·  Luís Santos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6126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interno — Uso Interno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 EXECUTIVO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Panorama do tenant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2F5F9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5623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548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2768803"/>
            <a:ext cx="2340864" cy="5559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analisados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2F5F9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85623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6,8%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47288" y="2768803"/>
            <a:ext cx="2340864" cy="5559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Nomenclatura conforme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2F5F9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85623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36208" y="2768803"/>
            <a:ext cx="2340864" cy="5559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com tags completas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1540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2F5F9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15400" y="185623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025128" y="2768803"/>
            <a:ext cx="2340864" cy="5559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groups sem owner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2F5F9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2219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2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511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58368" y="4734763"/>
            <a:ext cx="2340864" cy="5559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 não conformes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337560" y="365760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2F5F9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82219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3447288" y="4734763"/>
            <a:ext cx="2340864" cy="5559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de IA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26480" y="365760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2F5F9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82219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236208" y="4734763"/>
            <a:ext cx="2340864" cy="5559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de IA com rede exposta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915400" y="365760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2F5F9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15400" y="382219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2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9025128" y="4734763"/>
            <a:ext cx="2340864" cy="5559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de remediação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não conformidade é transversal a todas as subscrições; nenhuma das principais ultrapassa 8% de nomenclatura conforme.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ANALISADO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Âmbito e metodologia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965960" y="17830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Azure inventariados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62072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965960" y="286207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subscrições do tenant PLANAPP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941064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941064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965960" y="3941064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(mar · mai · jun 2026)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020056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5020056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965960" y="5020056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alterações — análise só de leitura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dados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26480" y="2240280"/>
            <a:ext cx="109728" cy="10972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1488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Inventário de recursos — naming + tags (jun)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2788920"/>
            <a:ext cx="109728" cy="10972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6974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de nomenclatura (jun)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3337560"/>
            <a:ext cx="109728" cy="10972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246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de tags (jun)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3886200"/>
            <a:ext cx="109728" cy="10972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7947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Inventário de IA — Azure AI Foundry (mai)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4434840"/>
            <a:ext cx="109728" cy="10972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3434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 de modelos de IA (mai)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4983480"/>
            <a:ext cx="109728" cy="10972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4892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Remediação de IA priorizada (mai)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26480" y="5532120"/>
            <a:ext cx="109728" cy="10972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54406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Proprietários de resource groups (mar)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6,8% CONFORME · 93,2% NÃO CONFORME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Conformidade de nomenclatura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F2F5F9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47672"/>
            <a:ext cx="246888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2831897"/>
            <a:ext cx="2249424" cy="5413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Conformes em 548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F2F5F9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76472"/>
            <a:ext cx="246888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58368" y="4660697"/>
            <a:ext cx="2249424" cy="5413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conformes (93,2%)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4406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276 </a:t>
            </a:r>
            <a:pPr indent="0" marL="0">
              <a:buNone/>
            </a:pPr>
            <a:r>
              <a:rPr lang="en-US" sz="12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mapeado, nome incorreto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 </a:t>
            </a:r>
            <a:pPr indent="0" marL="0">
              <a:buNone/>
            </a:pPr>
            <a:r>
              <a:rPr lang="en-US" sz="12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ainda sem prefixo na política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2648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com mais não conformidades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035040" y="1965960"/>
          <a:ext cx="56692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ESTÃO OS RECURSOS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Conformidade por subscrição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7665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188720"/>
                <a:gridCol w="1188720"/>
                <a:gridCol w="11887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Conforme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PlanApp-prd-sub001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PlanApp-nprd-sub001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PlanApp-hub-sub001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PlanAPP-AZURE-TEMP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PlanAPP-fabric-sub001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Azure Enterprise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PlanApp-365-backup-001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1783080"/>
            <a:ext cx="3931920" cy="3840480"/>
          </a:xfrm>
          <a:prstGeom prst="roundRect">
            <a:avLst>
              <a:gd name="adj" fmla="val 1905"/>
            </a:avLst>
          </a:prstGeom>
          <a:solidFill>
            <a:srgbClr val="14233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0" y="21488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539 de 548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863840" y="28803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concentram-se em prd, nprd e hub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595360" y="3749040"/>
            <a:ext cx="2103120" cy="0"/>
          </a:xfrm>
          <a:prstGeom prst="line">
            <a:avLst/>
          </a:prstGeom>
          <a:noFill/>
          <a:ln w="12700">
            <a:solidFill>
              <a:srgbClr val="2E5C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0" y="39776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das três subscrições principais ultrapassa 8% de conformidade.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· AMBIENTE · PROJETO · CENTROCUSTO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Conformidade de etiquetas (tags)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84832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3280867"/>
            <a:ext cx="3346704" cy="7022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as 4 tags obrigatórias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2084832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2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407408" y="3280867"/>
            <a:ext cx="3346704" cy="7022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1 a 3 tags apenas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92024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2084832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538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156448" y="3280867"/>
            <a:ext cx="3346704" cy="7022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qualquer tag obrigatória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50292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— </a:t>
            </a:r>
            <a:pPr indent="0" marL="0">
              <a:buNone/>
            </a:pPr>
            <a:r>
              <a:rPr lang="en-US" sz="13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imputação de custos por área/projeto inviável;   </a:t>
            </a:r>
            <a:pPr indent="0" marL="0">
              <a:buNone/>
            </a:pPr>
            <a:r>
              <a:rPr lang="en-US" sz="13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Governação — </a:t>
            </a:r>
            <a:pPr indent="0" marL="0">
              <a:buNone/>
            </a:pPr>
            <a:r>
              <a:rPr lang="en-US" sz="13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políticas por contexto comprometida;   </a:t>
            </a:r>
            <a:pPr indent="0" marL="0">
              <a:buNone/>
            </a:pPr>
            <a:r>
              <a:rPr lang="en-US" sz="13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— </a:t>
            </a:r>
            <a:pPr indent="0" marL="0">
              <a:buNone/>
            </a:pPr>
            <a:r>
              <a:rPr lang="en-US" sz="13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identificar recursos órfãos ou temporários.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RESPONSABILIZAÇÃO E CICLO DE VIDA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Propriedade dos resource groups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828800"/>
          <a:ext cx="3840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417320" y="3246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 / 77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41732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owner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37760" y="1737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7 resource groups com proprietário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3776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pla-we-dev-adse-rg001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41080" y="2148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Luís Santos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37760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pla-we-nprd-inalab-rg001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41080" y="2697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Tiago Louro; Henrique Pereira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37760" y="3246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pla-we-nprd-naelabs-rg001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41080" y="3246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Tiago Louro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37760" y="3794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pla-we-prd-finopshub-rg001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41080" y="3794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Helena Gomes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37760" y="4343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pla-we-prd-foresigh-rg001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41080" y="4343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Martins Ferreira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937760" y="4892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Pla-rg-HackaPLANAPP-001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641080" y="4892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Neves; PLANAPP-Hacka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937760" y="5440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pla-we-prd-data-dbw-rg002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641080" y="5440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(Service Principal)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937760" y="598932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Recomendação: atribuir owners por grupo de segurança, não por utilizador individual.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— O DOMÍNIO MAIS CRÍTICO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Recursos de Inteligência Artificial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2F5F9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01952"/>
            <a:ext cx="256032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2729484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de IA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173736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2F5F9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901952"/>
            <a:ext cx="256032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47288" y="2729484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73736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2F5F9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901952"/>
            <a:ext cx="256032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36208" y="2729484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pública exposta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15400" y="173736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2F5F9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15400" y="1901952"/>
            <a:ext cx="256032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2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025128" y="2729484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Conflito ambiente/sub.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deployments de modelos por fornecedor</a:t>
            </a:r>
            <a:endParaRPr lang="en-US" sz="14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48640" y="3840480"/>
          <a:ext cx="40233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5029200" y="3840480"/>
            <a:ext cx="6629400" cy="2651760"/>
          </a:xfrm>
          <a:prstGeom prst="roundRect">
            <a:avLst>
              <a:gd name="adj" fmla="val 2759"/>
            </a:avLst>
          </a:prstGeom>
          <a:solidFill>
            <a:srgbClr val="F2F5F9"/>
          </a:solidFill>
          <a:ln/>
        </p:spPr>
      </p:sp>
      <p:sp>
        <p:nvSpPr>
          <p:cNvPr id="20" name="Text 17"/>
          <p:cNvSpPr/>
          <p:nvPr/>
        </p:nvSpPr>
        <p:spPr>
          <a:xfrm>
            <a:off x="521208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risco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212080" y="4443984"/>
            <a:ext cx="109728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de 18 recursos (78%) com acesso de rede pública ativo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212080" y="4956048"/>
            <a:ext cx="109728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0" y="488289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incoerências ambiente↔subscrição (ex.: 'dev' em subscrição 'prd')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212080" y="5468112"/>
            <a:ext cx="109728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0" y="53949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nomes auto-gerados pelo Foundry (ex.: henri-…, carlo-…) — exigem recriação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212080" y="5980176"/>
            <a:ext cx="109728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5486400" y="59070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Predomínio OpenAI (55), mas já com Anthropic (9), DeepSeek (3) e Mistral (2)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AÇÕES · 10 ALTA · 44 MÉDIA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Plano de remediação priorizado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por tipo de problema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10312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1737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recomendada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0" y="2148840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040880" y="2103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as 6 incoerências ambiente/subscrição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0" y="28072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04088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Recriar recursos de IA auto-gerados (com tags + Private Endpoint)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0" y="3465576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040880" y="341985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etiquetagem retroativa (prd e hub primeiro)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0" y="4123944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0" y="4123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040880" y="407822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na política os 235 tipos ainda sem prefixo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0" y="478231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0" y="4782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040880" y="473659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Recriação faseada das 27 storage accounts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400800" y="5440680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040880" y="5394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Atribuir owners aos 70 resource groups sem proprietário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PARA A POLÍTICA V2.0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Recomendações e metas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5577840"/>
                <a:gridCol w="274320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(12 meses)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Nomenclatura conforme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Tags obrigatórias completas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em produção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groups com owner direto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Recursos de IA com rede exposta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em produção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72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recomendado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5056632"/>
            <a:ext cx="109728" cy="10972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49834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 «Deny» para nomes fora do padrão (tipos mapeados)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5056632"/>
            <a:ext cx="109728" cy="10972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49834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 «Modify/Append» para herança e obrigatoriedade de tags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5623560"/>
            <a:ext cx="109728" cy="10972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555040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por grupo de segurança Entra ID no processo de criação de RG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72200" y="5623560"/>
            <a:ext cx="109728" cy="10972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4" name="Text 11"/>
          <p:cNvSpPr/>
          <p:nvPr/>
        </p:nvSpPr>
        <p:spPr>
          <a:xfrm>
            <a:off x="6446520" y="555040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de Private Endpoints e bloqueio de rede pública em produção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Conformidade baixa e transversal — mas mensurável e corrigível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68680" y="33832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6,8%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nomenclatura conforme  ·  </a:t>
            </a:r>
            <a:pPr indent="0" marL="0">
              <a:buNone/>
            </a:pPr>
            <a:r>
              <a:rPr lang="en-US" sz="1600" b="1" dirty="0">
                <a:solidFill>
                  <a:srgbClr val="9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tags completas  ·  </a:t>
            </a:r>
            <a:pPr indent="0" marL="0">
              <a:buNone/>
            </a:pPr>
            <a:r>
              <a:rPr lang="en-US" sz="1600" b="1" dirty="0">
                <a:solidFill>
                  <a:srgbClr val="9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recursos de IA com rede exposta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411480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diagnóstico é a linha de base para aprovar e impor a Política de Nomenclaturas v2.0. Próximo passo: priorizar as 10 ações de prioridade Alta e ligar o enforcement por Azure Policy.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6035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7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PLANAPP · Equipa GSI · Junho de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E68DDBD6BF4E44ABC0533714700D314" ma:contentTypeVersion="18" ma:contentTypeDescription="Criar um novo documento." ma:contentTypeScope="" ma:versionID="21b981f0edffd095beaf83640fed0cee">
  <xsd:schema xmlns:xsd="http://www.w3.org/2001/XMLSchema" xmlns:xs="http://www.w3.org/2001/XMLSchema" xmlns:p="http://schemas.microsoft.com/office/2006/metadata/properties" xmlns:ns2="d91c0162-9b1d-42e3-9516-badcc41fb885" xmlns:ns3="d3a75ecb-922a-40cf-8667-f82b07f02fcc" targetNamespace="http://schemas.microsoft.com/office/2006/metadata/properties" ma:root="true" ma:fieldsID="0d582ad3a90a89822d4263a8601175dd" ns2:_="" ns3:_="">
    <xsd:import namespace="d91c0162-9b1d-42e3-9516-badcc41fb885"/>
    <xsd:import namespace="d3a75ecb-922a-40cf-8667-f82b07f02f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1c0162-9b1d-42e3-9516-badcc41fb8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m" ma:readOnly="false" ma:fieldId="{5cf76f15-5ced-4ddc-b409-7134ff3c332f}" ma:taxonomyMulti="true" ma:sspId="1e2e9ced-e249-4d7a-b53b-5582632822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a75ecb-922a-40cf-8667-f82b07f02fcc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bafd57e-80cb-4ffb-93f4-f039e6d85166}" ma:internalName="TaxCatchAll" ma:showField="CatchAllData" ma:web="d3a75ecb-922a-40cf-8667-f82b07f02f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3a75ecb-922a-40cf-8667-f82b07f02fcc" xsi:nil="true"/>
    <lcf76f155ced4ddcb4097134ff3c332f xmlns="d91c0162-9b1d-42e3-9516-badcc41fb88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86469EA-2FE5-4EF7-86B6-E8A88D794BD2}"/>
</file>

<file path=customXml/itemProps2.xml><?xml version="1.0" encoding="utf-8"?>
<ds:datastoreItem xmlns:ds="http://schemas.openxmlformats.org/officeDocument/2006/customXml" ds:itemID="{34CE1D95-ADB2-4B60-8767-0002632F9002}"/>
</file>

<file path=customXml/itemProps3.xml><?xml version="1.0" encoding="utf-8"?>
<ds:datastoreItem xmlns:ds="http://schemas.openxmlformats.org/officeDocument/2006/customXml" ds:itemID="{B2E3DDB1-DD24-45D5-B31F-52E77247D92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2026-06-06T07:41:47Z</dcterms:created>
  <dcterms:modified xsi:type="dcterms:W3CDTF">2026-06-06T07:41:47Z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0x0101005E68DDBD6BF4E44ABC0533714700D314</vt:lpwstr>
  </property>
</Properties>
</file>